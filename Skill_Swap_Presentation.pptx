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88720" cy="1188720"/>
          </a:xfrm>
          <a:prstGeom prst="rect">
            <a:avLst/>
          </a:prstGeom>
        </p:spPr>
      </p:pic>
      <p:pic>
        <p:nvPicPr>
          <p:cNvPr id="3" name="Picture 2" descr="swami_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164592"/>
            <a:ext cx="1097280" cy="1234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274320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1E1E"/>
                </a:solidFill>
                <a:latin typeface="Georgia"/>
              </a:defRPr>
            </a:pPr>
            <a:r>
              <a:t>Swami Keshvanand Institute of Technology, Management &amp; Gramothan, Jaipur</a:t>
            </a:r>
          </a:p>
          <a:p>
            <a:pPr algn="ctr">
              <a:defRPr sz="1500" b="1">
                <a:solidFill>
                  <a:srgbClr val="A01E1E"/>
                </a:solidFill>
                <a:latin typeface="Georgia"/>
              </a:defRPr>
            </a:pPr>
            <a:r>
              <a:t>(An Autonomous Institute Affiliated to Rajasthan Technical University, Kota)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457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91E24"/>
                </a:solidFill>
                <a:latin typeface="Georgia"/>
              </a:defRPr>
            </a:pPr>
            <a:r>
              <a:t>Industrial Training</a:t>
            </a:r>
          </a:p>
          <a:p>
            <a:pPr algn="ctr">
              <a:spcAft>
                <a:spcPts val="2400"/>
              </a:spcAft>
              <a:defRPr sz="3200" b="1">
                <a:solidFill>
                  <a:srgbClr val="191E24"/>
                </a:solidFill>
                <a:latin typeface="Georgia"/>
              </a:defRPr>
            </a:pPr>
            <a:r>
              <a:t>Presentation</a:t>
            </a:r>
          </a:p>
          <a:p>
            <a:pPr algn="ctr">
              <a:defRPr sz="3800" b="1" u="sng">
                <a:solidFill>
                  <a:srgbClr val="111827"/>
                </a:solidFill>
                <a:latin typeface="Arial Black"/>
              </a:defRPr>
            </a:pPr>
            <a:r>
              <a:t>TOPIC: Skill Swap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1E24"/>
                </a:solidFill>
                <a:latin typeface="Arial"/>
              </a:defRPr>
            </a:pPr>
            <a:r>
              <a:t>Submitted To:</a:t>
            </a:r>
          </a:p>
          <a:p>
            <a:pPr>
              <a:defRPr sz="1800" b="1">
                <a:solidFill>
                  <a:srgbClr val="191E24"/>
                </a:solidFill>
                <a:latin typeface="Arial"/>
              </a:defRPr>
            </a:pPr>
            <a:r>
              <a:t>Name:- Mr. Vikash Dhankar</a:t>
            </a:r>
          </a:p>
          <a:p>
            <a:pPr>
              <a:defRPr sz="1700" b="1">
                <a:solidFill>
                  <a:srgbClr val="191E24"/>
                </a:solidFill>
                <a:latin typeface="Arial"/>
              </a:defRPr>
            </a:pPr>
            <a:r>
              <a:t>Assistant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1E24"/>
                </a:solidFill>
                <a:latin typeface="Arial"/>
              </a:defRPr>
            </a:pPr>
            <a:r>
              <a:t>Organization: N code labs</a:t>
            </a:r>
          </a:p>
          <a:p>
            <a:pPr>
              <a:defRPr sz="1800" b="1">
                <a:solidFill>
                  <a:srgbClr val="191E24"/>
                </a:solidFill>
                <a:latin typeface="Arial"/>
              </a:defRPr>
            </a:pPr>
            <a:r>
              <a:t>Submitted By:</a:t>
            </a:r>
          </a:p>
          <a:p>
            <a:pPr>
              <a:defRPr sz="1800" b="1">
                <a:solidFill>
                  <a:srgbClr val="191E24"/>
                </a:solidFill>
                <a:latin typeface="Arial"/>
              </a:defRPr>
            </a:pPr>
            <a:r>
              <a:t>Name:- Yuvraj Meena (24ESKCS780)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1640" y="320040"/>
            <a:ext cx="10149840" cy="868680"/>
          </a:xfrm>
          <a:prstGeom prst="rect">
            <a:avLst/>
          </a:prstGeom>
          <a:solidFill>
            <a:srgbClr val="9B2931"/>
          </a:solidFill>
          <a:ln w="19050">
            <a:solidFill>
              <a:srgbClr val="1E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www.skit.ac.in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544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191E24"/>
                </a:solidFill>
                <a:latin typeface="Arial"/>
              </a:defRPr>
            </a:pPr>
            <a:r>
              <a:t>1. Company Introduction</a:t>
            </a:r>
          </a:p>
          <a:p>
            <a:pPr>
              <a:spcAft>
                <a:spcPts val="1400"/>
              </a:spcAft>
              <a:defRPr sz="2600">
                <a:solidFill>
                  <a:srgbClr val="191E24"/>
                </a:solidFill>
                <a:latin typeface="Arial"/>
              </a:defRPr>
            </a:pPr>
            <a:r>
              <a:t>2. Certificate</a:t>
            </a:r>
          </a:p>
          <a:p>
            <a:pPr>
              <a:spcAft>
                <a:spcPts val="1400"/>
              </a:spcAft>
              <a:defRPr sz="2600">
                <a:solidFill>
                  <a:srgbClr val="191E24"/>
                </a:solidFill>
                <a:latin typeface="Arial"/>
              </a:defRPr>
            </a:pPr>
            <a:r>
              <a:t>3. Technology Used</a:t>
            </a:r>
          </a:p>
          <a:p>
            <a:pPr>
              <a:spcAft>
                <a:spcPts val="1400"/>
              </a:spcAft>
              <a:defRPr sz="2600">
                <a:solidFill>
                  <a:srgbClr val="191E24"/>
                </a:solidFill>
                <a:latin typeface="Arial"/>
              </a:defRPr>
            </a:pPr>
            <a:r>
              <a:t>4. Goal of Training</a:t>
            </a:r>
          </a:p>
          <a:p>
            <a:pPr>
              <a:spcAft>
                <a:spcPts val="1400"/>
              </a:spcAft>
              <a:defRPr sz="2600">
                <a:solidFill>
                  <a:srgbClr val="191E24"/>
                </a:solidFill>
                <a:latin typeface="Arial"/>
              </a:defRPr>
            </a:pPr>
            <a:r>
              <a:t>5. Project Overview</a:t>
            </a:r>
          </a:p>
          <a:p>
            <a:pPr>
              <a:spcAft>
                <a:spcPts val="1400"/>
              </a:spcAft>
              <a:defRPr sz="2600">
                <a:solidFill>
                  <a:srgbClr val="191E24"/>
                </a:solidFill>
                <a:latin typeface="Arial"/>
              </a:defRPr>
            </a:pPr>
            <a:r>
              <a:t>6. Working Project</a:t>
            </a:r>
          </a:p>
          <a:p>
            <a:pPr>
              <a:spcAft>
                <a:spcPts val="1400"/>
              </a:spcAft>
              <a:defRPr sz="2600">
                <a:solidFill>
                  <a:srgbClr val="191E24"/>
                </a:solidFill>
                <a:latin typeface="Arial"/>
              </a:defRPr>
            </a:pPr>
            <a:r>
              <a:t>7. Future Scope</a:t>
            </a:r>
          </a:p>
          <a:p>
            <a:pPr>
              <a:spcAft>
                <a:spcPts val="1400"/>
              </a:spcAft>
              <a:defRPr sz="2600">
                <a:solidFill>
                  <a:srgbClr val="191E24"/>
                </a:solidFill>
                <a:latin typeface="Arial"/>
              </a:defRPr>
            </a:pPr>
            <a:r>
              <a:t>8. Q&amp;A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1640" y="320040"/>
            <a:ext cx="10149840" cy="868680"/>
          </a:xfrm>
          <a:prstGeom prst="rect">
            <a:avLst/>
          </a:prstGeom>
          <a:solidFill>
            <a:srgbClr val="9B2931"/>
          </a:solidFill>
          <a:ln w="19050">
            <a:solidFill>
              <a:srgbClr val="1E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Company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www.skit.ac.in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645920"/>
            <a:ext cx="9445752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2400" b="1">
                <a:solidFill>
                  <a:srgbClr val="9B2931"/>
                </a:solidFill>
                <a:latin typeface="Arial"/>
              </a:defRPr>
            </a:pPr>
            <a:r>
              <a:t>[ COMPANY PROFILE &amp; BACKGROUND ]</a:t>
            </a:r>
          </a:p>
          <a:p>
            <a:pPr algn="ctr">
              <a:defRPr sz="1600">
                <a:solidFill>
                  <a:srgbClr val="64748B"/>
                </a:solidFill>
                <a:latin typeface="Arial"/>
              </a:defRPr>
            </a:pPr>
            <a:r>
              <a:t>This slide is designated for organization details, industrial background, and training domain overview.</a:t>
            </a:r>
          </a:p>
          <a:p>
            <a:pPr algn="ctr">
              <a:defRPr sz="1400" i="1">
                <a:solidFill>
                  <a:srgbClr val="94A3B8"/>
                </a:solidFill>
                <a:latin typeface="Arial"/>
              </a:defRPr>
            </a:pPr>
            <a:r>
              <a:t>(Paste company overview text, leadership, client portfolios, or corporate brochure screenshot here)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1640" y="320040"/>
            <a:ext cx="10149840" cy="868680"/>
          </a:xfrm>
          <a:prstGeom prst="rect">
            <a:avLst/>
          </a:prstGeom>
          <a:solidFill>
            <a:srgbClr val="9B2931"/>
          </a:solidFill>
          <a:ln w="19050">
            <a:solidFill>
              <a:srgbClr val="1E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Certificate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www.skit.ac.in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645920"/>
            <a:ext cx="9445752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2400" b="1">
                <a:solidFill>
                  <a:srgbClr val="9B2931"/>
                </a:solidFill>
                <a:latin typeface="Arial"/>
              </a:defRPr>
            </a:pPr>
            <a:r>
              <a:t>[ INDUSTRIAL TRAINING CERTIFICATE ]</a:t>
            </a:r>
          </a:p>
          <a:p>
            <a:pPr algn="ctr">
              <a:defRPr sz="1600">
                <a:solidFill>
                  <a:srgbClr val="64748B"/>
                </a:solidFill>
                <a:latin typeface="Arial"/>
              </a:defRPr>
            </a:pPr>
            <a:r>
              <a:t>Space reserved for training completion certificate awarded by the organization.</a:t>
            </a:r>
          </a:p>
          <a:p>
            <a:pPr algn="ctr">
              <a:defRPr sz="1400" i="1">
                <a:solidFill>
                  <a:srgbClr val="94A3B8"/>
                </a:solidFill>
                <a:latin typeface="Arial"/>
              </a:defRPr>
            </a:pPr>
            <a:r>
              <a:t>(Insert scanned certificate image or authorized letter of completion here)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1640" y="320040"/>
            <a:ext cx="10149840" cy="868680"/>
          </a:xfrm>
          <a:prstGeom prst="rect">
            <a:avLst/>
          </a:prstGeom>
          <a:solidFill>
            <a:srgbClr val="9B2931"/>
          </a:solidFill>
          <a:ln w="19050">
            <a:solidFill>
              <a:srgbClr val="1E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www.skit.ac.in</a:t>
            </a:r>
          </a:p>
        </p:txBody>
      </p:sp>
      <p:pic>
        <p:nvPicPr>
          <p:cNvPr id="7" name="Picture 6" descr="tech_stack_lo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371600"/>
            <a:ext cx="8165592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5212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91E24"/>
                </a:solidFill>
                <a:latin typeface="Arial"/>
              </a:defRPr>
            </a:pPr>
            <a:r>
              <a:t>• Frontend Layer: React.js (Component Architecture), Tailwind CSS (Modern Glassmorphic UI), Vite (Build Tool), Axios (HTTP Client)</a:t>
            </a:r>
          </a:p>
          <a:p>
            <a:pPr>
              <a:defRPr sz="1400" b="1">
                <a:solidFill>
                  <a:srgbClr val="191E24"/>
                </a:solidFill>
                <a:latin typeface="Arial"/>
              </a:defRPr>
            </a:pPr>
            <a:r>
              <a:t>• Backend &amp; APIs: Node.js (V8 Engine Runtime), Express.js (REST Routing), JWT (Encrypted Auth), Multer (File Handling)</a:t>
            </a:r>
          </a:p>
          <a:p>
            <a:pPr>
              <a:defRPr sz="1400" b="1">
                <a:solidFill>
                  <a:srgbClr val="191E24"/>
                </a:solidFill>
                <a:latin typeface="Arial"/>
              </a:defRPr>
            </a:pPr>
            <a:r>
              <a:t>• Database &amp; Storage: MongoDB Atlas (Mongoose ODM, Replica Sets), Cloudinary (Cloud Media CDN for Profiles &amp; Proofs)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1640" y="320040"/>
            <a:ext cx="10149840" cy="868680"/>
          </a:xfrm>
          <a:prstGeom prst="rect">
            <a:avLst/>
          </a:prstGeom>
          <a:solidFill>
            <a:srgbClr val="9B2931"/>
          </a:solidFill>
          <a:ln w="19050">
            <a:solidFill>
              <a:srgbClr val="1E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Goal of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www.skit.ac.in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54480"/>
            <a:ext cx="9326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1">
                <a:solidFill>
                  <a:srgbClr val="191E24"/>
                </a:solidFill>
                <a:latin typeface="Arial"/>
              </a:rPr>
              <a:t>• </a:t>
            </a:r>
            <a:r>
              <a:rPr sz="2200">
                <a:solidFill>
                  <a:srgbClr val="191E24"/>
                </a:solidFill>
                <a:latin typeface="Arial"/>
              </a:rPr>
              <a:t>Learn practical </a:t>
            </a:r>
            <a:r>
              <a:rPr sz="2200" b="1">
                <a:solidFill>
                  <a:srgbClr val="191E24"/>
                </a:solidFill>
                <a:latin typeface="Arial"/>
              </a:rPr>
              <a:t>Full-Stack Web Development</a:t>
            </a:r>
            <a:r>
              <a:rPr sz="2200">
                <a:solidFill>
                  <a:srgbClr val="191E24"/>
                </a:solidFill>
                <a:latin typeface="Arial"/>
              </a:rPr>
              <a:t> (MERN Stack architecture)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91E24"/>
                </a:solidFill>
                <a:latin typeface="Arial"/>
              </a:rPr>
              <a:t>• </a:t>
            </a:r>
            <a:r>
              <a:rPr sz="2200">
                <a:solidFill>
                  <a:srgbClr val="191E24"/>
                </a:solidFill>
                <a:latin typeface="Arial"/>
              </a:rPr>
              <a:t>Understand </a:t>
            </a:r>
            <a:r>
              <a:rPr sz="2200" b="1">
                <a:solidFill>
                  <a:srgbClr val="191E24"/>
                </a:solidFill>
                <a:latin typeface="Arial"/>
              </a:rPr>
              <a:t>React frontend development</a:t>
            </a:r>
            <a:r>
              <a:rPr sz="2200">
                <a:solidFill>
                  <a:srgbClr val="191E24"/>
                </a:solidFill>
                <a:latin typeface="Arial"/>
              </a:rPr>
              <a:t> with reusable components &amp; hooks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91E24"/>
                </a:solidFill>
                <a:latin typeface="Arial"/>
              </a:rPr>
              <a:t>• </a:t>
            </a:r>
            <a:r>
              <a:rPr sz="2200">
                <a:solidFill>
                  <a:srgbClr val="191E24"/>
                </a:solidFill>
                <a:latin typeface="Arial"/>
              </a:rPr>
              <a:t>Develop </a:t>
            </a:r>
            <a:r>
              <a:rPr sz="2200" b="1">
                <a:solidFill>
                  <a:srgbClr val="191E24"/>
                </a:solidFill>
                <a:latin typeface="Arial"/>
              </a:rPr>
              <a:t>Node.js &amp; Express backend APIs</a:t>
            </a:r>
            <a:r>
              <a:rPr sz="2200">
                <a:solidFill>
                  <a:srgbClr val="191E24"/>
                </a:solidFill>
                <a:latin typeface="Arial"/>
              </a:rPr>
              <a:t> with token security &amp; validation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91E24"/>
                </a:solidFill>
                <a:latin typeface="Arial"/>
              </a:rPr>
              <a:t>• </a:t>
            </a:r>
            <a:r>
              <a:rPr sz="2200">
                <a:solidFill>
                  <a:srgbClr val="191E24"/>
                </a:solidFill>
                <a:latin typeface="Arial"/>
              </a:rPr>
              <a:t>Work with </a:t>
            </a:r>
            <a:r>
              <a:rPr sz="2200" b="1">
                <a:solidFill>
                  <a:srgbClr val="191E24"/>
                </a:solidFill>
                <a:latin typeface="Arial"/>
              </a:rPr>
              <a:t>MongoDB and Cloudinary</a:t>
            </a:r>
            <a:r>
              <a:rPr sz="2200">
                <a:solidFill>
                  <a:srgbClr val="191E24"/>
                </a:solidFill>
                <a:latin typeface="Arial"/>
              </a:rPr>
              <a:t> for scalable database schemas &amp; media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91E24"/>
                </a:solidFill>
                <a:latin typeface="Arial"/>
              </a:rPr>
              <a:t>• </a:t>
            </a:r>
            <a:r>
              <a:rPr sz="2200">
                <a:solidFill>
                  <a:srgbClr val="191E24"/>
                </a:solidFill>
                <a:latin typeface="Arial"/>
              </a:rPr>
              <a:t>Design </a:t>
            </a:r>
            <a:r>
              <a:rPr sz="2200" b="1">
                <a:solidFill>
                  <a:srgbClr val="191E24"/>
                </a:solidFill>
                <a:latin typeface="Arial"/>
              </a:rPr>
              <a:t>algorithmic peer-to-peer matching</a:t>
            </a:r>
            <a:r>
              <a:rPr sz="2200">
                <a:solidFill>
                  <a:srgbClr val="191E24"/>
                </a:solidFill>
                <a:latin typeface="Arial"/>
              </a:rPr>
              <a:t> for reciprocal skill swaps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91E24"/>
                </a:solidFill>
                <a:latin typeface="Arial"/>
              </a:rPr>
              <a:t>• </a:t>
            </a:r>
            <a:r>
              <a:rPr sz="2200">
                <a:solidFill>
                  <a:srgbClr val="191E24"/>
                </a:solidFill>
                <a:latin typeface="Arial"/>
              </a:rPr>
              <a:t>Implement </a:t>
            </a:r>
            <a:r>
              <a:rPr sz="2200" b="1">
                <a:solidFill>
                  <a:srgbClr val="191E24"/>
                </a:solidFill>
                <a:latin typeface="Arial"/>
              </a:rPr>
              <a:t>secure authentication workflows</a:t>
            </a:r>
            <a:r>
              <a:rPr sz="2200">
                <a:solidFill>
                  <a:srgbClr val="191E24"/>
                </a:solidFill>
                <a:latin typeface="Arial"/>
              </a:rPr>
              <a:t> using JWT &amp; dual verification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91E24"/>
                </a:solidFill>
                <a:latin typeface="Arial"/>
              </a:rPr>
              <a:t>• </a:t>
            </a:r>
            <a:r>
              <a:rPr sz="2200">
                <a:solidFill>
                  <a:srgbClr val="191E24"/>
                </a:solidFill>
                <a:latin typeface="Arial"/>
              </a:rPr>
              <a:t>Gain experience in building a </a:t>
            </a:r>
            <a:r>
              <a:rPr sz="2200" b="1">
                <a:solidFill>
                  <a:srgbClr val="191E24"/>
                </a:solidFill>
                <a:latin typeface="Arial"/>
              </a:rPr>
              <a:t>complete real-world project</a:t>
            </a:r>
            <a:r>
              <a:rPr sz="2200">
                <a:solidFill>
                  <a:srgbClr val="191E24"/>
                </a:solidFill>
                <a:latin typeface="Arial"/>
              </a:rPr>
              <a:t> from scratch to deployment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1640" y="320040"/>
            <a:ext cx="10149840" cy="868680"/>
          </a:xfrm>
          <a:prstGeom prst="rect">
            <a:avLst/>
          </a:prstGeom>
          <a:solidFill>
            <a:srgbClr val="9B2931"/>
          </a:solidFill>
          <a:ln w="19050">
            <a:solidFill>
              <a:srgbClr val="1E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www.skit.ac.in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554480"/>
            <a:ext cx="475488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000" b="1">
                <a:solidFill>
                  <a:srgbClr val="9B2931"/>
                </a:solidFill>
                <a:latin typeface="Arial"/>
              </a:defRPr>
            </a:pPr>
            <a:r>
              <a:t>⚠️ The Problem Statement</a:t>
            </a:r>
          </a:p>
          <a:p>
            <a:pPr>
              <a:spcAft>
                <a:spcPts val="1000"/>
              </a:spcAft>
              <a:defRPr sz="1400">
                <a:solidFill>
                  <a:srgbClr val="191E24"/>
                </a:solidFill>
                <a:latin typeface="Arial"/>
              </a:defRPr>
            </a:pPr>
            <a:r>
              <a:t>• High Cost of Tutoring: Millions possess valuable skills (programming, languages, design) but lack funds for paid courses or coaching.</a:t>
            </a:r>
          </a:p>
          <a:p>
            <a:pPr>
              <a:spcAft>
                <a:spcPts val="1000"/>
              </a:spcAft>
              <a:defRPr sz="1400">
                <a:solidFill>
                  <a:srgbClr val="191E24"/>
                </a:solidFill>
                <a:latin typeface="Arial"/>
              </a:defRPr>
            </a:pPr>
            <a:r>
              <a:t>• Monetization Barriers: Monetizing talent requires formal freelance platforms with steep platform commissions (20%+).</a:t>
            </a:r>
          </a:p>
          <a:p>
            <a:pPr>
              <a:spcAft>
                <a:spcPts val="1000"/>
              </a:spcAft>
              <a:defRPr sz="1400">
                <a:solidFill>
                  <a:srgbClr val="191E24"/>
                </a:solidFill>
                <a:latin typeface="Arial"/>
              </a:defRPr>
            </a:pPr>
            <a:r>
              <a:t>• Underutilized Knowledge: Peer learning remains fragmented across informal social networks with no accountability or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475488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000" b="1">
                <a:solidFill>
                  <a:srgbClr val="4F46E5"/>
                </a:solidFill>
                <a:latin typeface="Arial"/>
              </a:defRPr>
            </a:pPr>
            <a:r>
              <a:t>💡 The SkillSwap Solution</a:t>
            </a:r>
          </a:p>
          <a:p>
            <a:pPr>
              <a:spcAft>
                <a:spcPts val="1000"/>
              </a:spcAft>
              <a:defRPr sz="1400">
                <a:solidFill>
                  <a:srgbClr val="191E24"/>
                </a:solidFill>
                <a:latin typeface="Arial"/>
              </a:defRPr>
            </a:pPr>
            <a:r>
              <a:t>• Barter Economy for Knowledge: A direct peer-to-peer exchange where members trade skills without any financial transaction.</a:t>
            </a:r>
          </a:p>
          <a:p>
            <a:pPr>
              <a:spcAft>
                <a:spcPts val="1000"/>
              </a:spcAft>
              <a:defRPr sz="1400">
                <a:solidFill>
                  <a:srgbClr val="191E24"/>
                </a:solidFill>
                <a:latin typeface="Arial"/>
              </a:defRPr>
            </a:pPr>
            <a:r>
              <a:t>• Two-Way Reciprocal Matching: Smart algorithm matches users where 'Skill Offered by A' equals 'Skill Wanted by B' and vice-versa.</a:t>
            </a:r>
          </a:p>
          <a:p>
            <a:pPr>
              <a:spcAft>
                <a:spcPts val="1000"/>
              </a:spcAft>
              <a:defRPr sz="1400">
                <a:solidFill>
                  <a:srgbClr val="191E24"/>
                </a:solidFill>
                <a:latin typeface="Arial"/>
              </a:defRPr>
            </a:pPr>
            <a:r>
              <a:t>• Built-in Coordination Lifecycle: End-to-end request management, session scheduling, verified proof badges, and mutual reviews.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1640" y="320040"/>
            <a:ext cx="10149840" cy="868680"/>
          </a:xfrm>
          <a:prstGeom prst="rect">
            <a:avLst/>
          </a:prstGeom>
          <a:solidFill>
            <a:srgbClr val="9B2931"/>
          </a:solidFill>
          <a:ln w="19050">
            <a:solidFill>
              <a:srgbClr val="1E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Working Project: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www.skit.ac.in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645920"/>
            <a:ext cx="32004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9B2931"/>
                </a:solidFill>
                <a:latin typeface="Arial"/>
              </a:defRPr>
            </a:pPr>
            <a:r>
              <a:t>1. Auth &amp; Profiles</a:t>
            </a:r>
          </a:p>
          <a:p>
            <a:pPr>
              <a:defRPr sz="1300">
                <a:solidFill>
                  <a:srgbClr val="191E24"/>
                </a:solidFill>
                <a:latin typeface="Arial"/>
              </a:defRPr>
            </a:pPr>
            <a:r>
              <a:t>Secure signup with OTP verification, profile customization, and bio setup.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2004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9B2931"/>
                </a:solidFill>
                <a:latin typeface="Arial"/>
              </a:defRPr>
            </a:pPr>
            <a:r>
              <a:t>2. Skill Catalog</a:t>
            </a:r>
          </a:p>
          <a:p>
            <a:pPr>
              <a:defRPr sz="1300">
                <a:solidFill>
                  <a:srgbClr val="191E24"/>
                </a:solidFill>
                <a:latin typeface="Arial"/>
              </a:defRPr>
            </a:pPr>
            <a:r>
              <a:t>List skills under 'I Can Teach' &amp; 'I Want to Learn' with levels &amp; modalities.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645920"/>
            <a:ext cx="32004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9B2931"/>
                </a:solidFill>
                <a:latin typeface="Arial"/>
              </a:defRPr>
            </a:pPr>
            <a:r>
              <a:t>3. Smart Match Engine</a:t>
            </a:r>
          </a:p>
          <a:p>
            <a:pPr>
              <a:defRPr sz="1300">
                <a:solidFill>
                  <a:srgbClr val="191E24"/>
                </a:solidFill>
                <a:latin typeface="Arial"/>
              </a:defRPr>
            </a:pPr>
            <a:r>
              <a:t>Algorithmic discovery pairing mutual reciprocal skill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931920"/>
            <a:ext cx="32004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9B2931"/>
                </a:solidFill>
                <a:latin typeface="Arial"/>
              </a:defRPr>
            </a:pPr>
            <a:r>
              <a:t>4. Swap Proposal</a:t>
            </a:r>
          </a:p>
          <a:p>
            <a:pPr>
              <a:defRPr sz="1300">
                <a:solidFill>
                  <a:srgbClr val="191E24"/>
                </a:solidFill>
                <a:latin typeface="Arial"/>
              </a:defRPr>
            </a:pPr>
            <a:r>
              <a:t>Send 1-on-1 swap offers with customized introductory negotiation messages.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931920"/>
            <a:ext cx="32004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9B2931"/>
                </a:solidFill>
                <a:latin typeface="Arial"/>
              </a:defRPr>
            </a:pPr>
            <a:r>
              <a:t>5. Session Coordination</a:t>
            </a:r>
          </a:p>
          <a:p>
            <a:pPr>
              <a:defRPr sz="1300">
                <a:solidFill>
                  <a:srgbClr val="191E24"/>
                </a:solidFill>
                <a:latin typeface="Arial"/>
              </a:defRPr>
            </a:pPr>
            <a:r>
              <a:t>Schedule dates, choose online meeting links or in-person venues.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3931920"/>
            <a:ext cx="32004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9B2931"/>
                </a:solidFill>
                <a:latin typeface="Arial"/>
              </a:defRPr>
            </a:pPr>
            <a:r>
              <a:t>6. Reviews &amp; Trust Score</a:t>
            </a:r>
          </a:p>
          <a:p>
            <a:pPr>
              <a:defRPr sz="1300">
                <a:solidFill>
                  <a:srgbClr val="191E24"/>
                </a:solidFill>
                <a:latin typeface="Arial"/>
              </a:defRPr>
            </a:pPr>
            <a:r>
              <a:t>Mark completed, submit 1-5 star ratings, and earn verified status.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1640" y="320040"/>
            <a:ext cx="10149840" cy="868680"/>
          </a:xfrm>
          <a:prstGeom prst="rect">
            <a:avLst/>
          </a:prstGeom>
          <a:solidFill>
            <a:srgbClr val="9B2931"/>
          </a:solidFill>
          <a:ln w="19050">
            <a:solidFill>
              <a:srgbClr val="1E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Working Project: Landing Page &amp; UX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www.skit.ac.in</a:t>
            </a:r>
          </a:p>
        </p:txBody>
      </p:sp>
      <p:pic>
        <p:nvPicPr>
          <p:cNvPr id="7" name="Picture 6" descr="screen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0"/>
            <a:ext cx="6035040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554480"/>
            <a:ext cx="411480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4F46E5"/>
                </a:solidFill>
                <a:latin typeface="Arial"/>
              </a:defRPr>
            </a:pPr>
            <a:r>
              <a:t>Features &amp; Interface Functions</a:t>
            </a:r>
          </a:p>
          <a:p>
            <a:pPr>
              <a:spcAft>
                <a:spcPts val="800"/>
              </a:spcAft>
              <a:defRPr sz="1250">
                <a:solidFill>
                  <a:srgbClr val="191E24"/>
                </a:solidFill>
                <a:latin typeface="Arial"/>
              </a:defRPr>
            </a:pPr>
            <a:r>
              <a:t>✔ Contemporary Glassmorphic Theme: Deep midnight aesthetic with glowing cyan accents and accessible typography.</a:t>
            </a:r>
          </a:p>
          <a:p>
            <a:pPr>
              <a:spcAft>
                <a:spcPts val="800"/>
              </a:spcAft>
              <a:defRPr sz="1250">
                <a:solidFill>
                  <a:srgbClr val="191E24"/>
                </a:solidFill>
                <a:latin typeface="Arial"/>
              </a:defRPr>
            </a:pPr>
            <a:r>
              <a:t>✔ Value Proposition Display: Immediate clarity with 'Teach What You Know. Master What You Want' hero messaging.</a:t>
            </a:r>
          </a:p>
          <a:p>
            <a:pPr>
              <a:spcAft>
                <a:spcPts val="800"/>
              </a:spcAft>
              <a:defRPr sz="1250">
                <a:solidFill>
                  <a:srgbClr val="191E24"/>
                </a:solidFill>
                <a:latin typeface="Arial"/>
              </a:defRPr>
            </a:pPr>
            <a:r>
              <a:t>✔ Interactive Barter Paradigm: Demonstrates real-time 1-to-1 reciprocity exchange tickets directly on the home feed.</a:t>
            </a:r>
          </a:p>
          <a:p>
            <a:pPr>
              <a:spcAft>
                <a:spcPts val="800"/>
              </a:spcAft>
              <a:defRPr sz="1250">
                <a:solidFill>
                  <a:srgbClr val="191E24"/>
                </a:solidFill>
                <a:latin typeface="Arial"/>
              </a:defRPr>
            </a:pPr>
            <a:r>
              <a:t>✔ Public Directory Preview: Non-logged in visitors can browse public skill offerings with instant search capability.</a:t>
            </a:r>
          </a:p>
          <a:p>
            <a:pPr>
              <a:spcAft>
                <a:spcPts val="800"/>
              </a:spcAft>
              <a:defRPr sz="1250">
                <a:solidFill>
                  <a:srgbClr val="191E24"/>
                </a:solidFill>
                <a:latin typeface="Arial"/>
              </a:defRPr>
            </a:pPr>
            <a:r>
              <a:t>✔ Direct Call to Action: Seamless onboarding flow directing users into registration or passwordless login.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1640" y="320040"/>
            <a:ext cx="10149840" cy="868680"/>
          </a:xfrm>
          <a:prstGeom prst="rect">
            <a:avLst/>
          </a:prstGeom>
          <a:solidFill>
            <a:srgbClr val="9B2931"/>
          </a:solidFill>
          <a:ln w="19050">
            <a:solidFill>
              <a:srgbClr val="1E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Working Project: Auth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www.skit.ac.in</a:t>
            </a:r>
          </a:p>
        </p:txBody>
      </p:sp>
      <p:pic>
        <p:nvPicPr>
          <p:cNvPr id="7" name="Picture 6" descr="screen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0"/>
            <a:ext cx="6035040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554480"/>
            <a:ext cx="411480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9B2931"/>
                </a:solidFill>
                <a:latin typeface="Arial"/>
              </a:defRPr>
            </a:pPr>
            <a:r>
              <a:t>Security Architecture &amp; Controls</a:t>
            </a:r>
          </a:p>
          <a:p>
            <a:pPr>
              <a:spcAft>
                <a:spcPts val="800"/>
              </a:spcAft>
              <a:defRPr sz="1250">
                <a:solidFill>
                  <a:srgbClr val="191E24"/>
                </a:solidFill>
                <a:latin typeface="Arial"/>
              </a:defRPr>
            </a:pPr>
            <a:r>
              <a:t>🔒 Dual Authentication Channels: Supports both classic encrypted passwords and instantaneous Email OTP verification.</a:t>
            </a:r>
          </a:p>
          <a:p>
            <a:pPr>
              <a:spcAft>
                <a:spcPts val="800"/>
              </a:spcAft>
              <a:defRPr sz="1250">
                <a:solidFill>
                  <a:srgbClr val="191E24"/>
                </a:solidFill>
                <a:latin typeface="Arial"/>
              </a:defRPr>
            </a:pPr>
            <a:r>
              <a:t>🔒 Mandatory Verification Checks: Form validation enforces RFC-compliant emails, 10-15 digit phone numbers, and min 6-char passwords.</a:t>
            </a:r>
          </a:p>
          <a:p>
            <a:pPr>
              <a:spcAft>
                <a:spcPts val="800"/>
              </a:spcAft>
              <a:defRPr sz="1250">
                <a:solidFill>
                  <a:srgbClr val="191E24"/>
                </a:solidFill>
                <a:latin typeface="Arial"/>
              </a:defRPr>
            </a:pPr>
            <a:r>
              <a:t>🔒 Encrypted JWT Sessions: Issues JSON Web Tokens stored securely with 30-day expiry and automated HTTP Authorization headers.</a:t>
            </a:r>
          </a:p>
          <a:p>
            <a:pPr>
              <a:spcAft>
                <a:spcPts val="800"/>
              </a:spcAft>
              <a:defRPr sz="1250">
                <a:solidFill>
                  <a:srgbClr val="191E24"/>
                </a:solidFill>
                <a:latin typeface="Arial"/>
              </a:defRPr>
            </a:pPr>
            <a:r>
              <a:t>🔒 Password Protection: Utilizes bcrypt with cryptographic salt rounds to prevent rainbow table and brute-force attacks.</a:t>
            </a:r>
          </a:p>
          <a:p>
            <a:pPr>
              <a:spcAft>
                <a:spcPts val="800"/>
              </a:spcAft>
              <a:defRPr sz="1250">
                <a:solidFill>
                  <a:srgbClr val="191E24"/>
                </a:solidFill>
                <a:latin typeface="Arial"/>
              </a:defRPr>
            </a:pPr>
            <a:r>
              <a:t>🔒 Rate Limiting &amp; Safety: OTP attempts throttled with dynamic 60-second cool-downs to block spamming.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1640" y="320040"/>
            <a:ext cx="10149840" cy="868680"/>
          </a:xfrm>
          <a:prstGeom prst="rect">
            <a:avLst/>
          </a:prstGeom>
          <a:solidFill>
            <a:srgbClr val="9B2931"/>
          </a:solidFill>
          <a:ln w="19050">
            <a:solidFill>
              <a:srgbClr val="1E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Working Project: Core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www.skit.ac.in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645920"/>
            <a:ext cx="484632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9B2931"/>
                </a:solidFill>
                <a:latin typeface="Arial"/>
              </a:defRPr>
            </a:pPr>
            <a:r>
              <a:t>Skill Management System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Dual taxonomy: 'I Can Teach' vs. 'I Want to Learn'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Categorization: Tech, Music, Language, Fitness, Art, Cooking, Academic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Proficiency levels: Beginner, Intermediate, Expert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Modality configuration: Online, In-person, or Both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484632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9B2931"/>
                </a:solidFill>
                <a:latin typeface="Arial"/>
              </a:defRPr>
            </a:pPr>
            <a:r>
              <a:t>Smart Match &amp; Barter Engine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Dynamic reciprocal query engine matching complementary skills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Mutual Match Badge: Instant visual indicator for 2-way compatibility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Direct proposal modal selecting exact skills to trade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Introductory message thread attached to incoming proposals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931920"/>
            <a:ext cx="484632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9B2931"/>
                </a:solidFill>
                <a:latin typeface="Arial"/>
              </a:defRPr>
            </a:pPr>
            <a:r>
              <a:t>Session Coordination &amp; Chat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Proposal negotiation: Accept, Decline, or Counter-propose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Session scheduling: Date picker, time slots, and virtual meeting links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Real-time messaging per active swap transaction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Two-party confirmation locking in scheduled 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484632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9B2931"/>
                </a:solidFill>
                <a:latin typeface="Arial"/>
              </a:defRPr>
            </a:pPr>
            <a:r>
              <a:t>Trust, Reviews &amp; Badges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Mandatory swap completion confirmation by both learners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1 to 5 star rating system with detailed qualitative feedback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Dynamic Trust Score algorithm displayed publicly on user profiles</a:t>
            </a:r>
          </a:p>
          <a:p>
            <a:pPr>
              <a:defRPr sz="1250">
                <a:solidFill>
                  <a:srgbClr val="191E24"/>
                </a:solidFill>
                <a:latin typeface="Arial"/>
              </a:defRPr>
            </a:pPr>
            <a:r>
              <a:t>• Verified Member Badge unlocked after 5 verified swaps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1640" y="320040"/>
            <a:ext cx="10149840" cy="868680"/>
          </a:xfrm>
          <a:prstGeom prst="rect">
            <a:avLst/>
          </a:prstGeom>
          <a:solidFill>
            <a:srgbClr val="9B2931"/>
          </a:solidFill>
          <a:ln w="19050">
            <a:solidFill>
              <a:srgbClr val="1E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www.skit.ac.in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B2931"/>
                </a:solidFill>
                <a:latin typeface="Arial"/>
              </a:defRPr>
            </a:pPr>
            <a:r>
              <a:t>🤖 AI-Powered Smart Matchmaking</a:t>
            </a:r>
          </a:p>
          <a:p>
            <a:pPr>
              <a:spcAft>
                <a:spcPts val="1000"/>
              </a:spcAft>
              <a:defRPr sz="1350">
                <a:solidFill>
                  <a:srgbClr val="191E24"/>
                </a:solidFill>
                <a:latin typeface="Arial"/>
              </a:defRPr>
            </a:pPr>
            <a:r>
              <a:t>Integrate vector embeddings (LangChain + Gemini / Groq) to perform semantic matching based on syllabus content and user learning goals rather than exact keyword matches.</a:t>
            </a:r>
          </a:p>
          <a:p>
            <a:pPr>
              <a:defRPr sz="1600" b="1">
                <a:solidFill>
                  <a:srgbClr val="9B2931"/>
                </a:solidFill>
                <a:latin typeface="Arial"/>
              </a:defRPr>
            </a:pPr>
            <a:r>
              <a:t>📹 Integrated WebRTC Video Classrooms</a:t>
            </a:r>
          </a:p>
          <a:p>
            <a:pPr>
              <a:spcAft>
                <a:spcPts val="1000"/>
              </a:spcAft>
              <a:defRPr sz="1350">
                <a:solidFill>
                  <a:srgbClr val="191E24"/>
                </a:solidFill>
                <a:latin typeface="Arial"/>
              </a:defRPr>
            </a:pPr>
            <a:r>
              <a:t>Build built-in audio/video calling with screen sharing directly inside SkillSwap, eliminating the need to redirect to external Zoom or Google Meet links.</a:t>
            </a:r>
          </a:p>
          <a:p>
            <a:pPr>
              <a:defRPr sz="1600" b="1">
                <a:solidFill>
                  <a:srgbClr val="9B2931"/>
                </a:solidFill>
                <a:latin typeface="Arial"/>
              </a:defRPr>
            </a:pPr>
            <a:r>
              <a:t>🔄 Multi-Party Circular Barter Swaps</a:t>
            </a:r>
          </a:p>
          <a:p>
            <a:pPr>
              <a:spcAft>
                <a:spcPts val="1000"/>
              </a:spcAft>
              <a:defRPr sz="1350">
                <a:solidFill>
                  <a:srgbClr val="191E24"/>
                </a:solidFill>
                <a:latin typeface="Arial"/>
              </a:defRPr>
            </a:pPr>
            <a:r>
              <a:t>Implement circular matching algorithms (3-way or 4-way trades: User A teaches User B, User B teaches User C, and User C teaches User A) when direct 2-way swaps aren't available.</a:t>
            </a:r>
          </a:p>
          <a:p>
            <a:pPr>
              <a:defRPr sz="1600" b="1">
                <a:solidFill>
                  <a:srgbClr val="9B2931"/>
                </a:solidFill>
                <a:latin typeface="Arial"/>
              </a:defRPr>
            </a:pPr>
            <a:r>
              <a:t>📱 Native Mobile Application (React Native)</a:t>
            </a:r>
          </a:p>
          <a:p>
            <a:pPr>
              <a:spcAft>
                <a:spcPts val="1000"/>
              </a:spcAft>
              <a:defRPr sz="1350">
                <a:solidFill>
                  <a:srgbClr val="191E24"/>
                </a:solidFill>
                <a:latin typeface="Arial"/>
              </a:defRPr>
            </a:pPr>
            <a:r>
              <a:t>Develop cross-platform iOS and Android applications with geolocation-based campus matching and push notifications for instant session coordination.</a:t>
            </a:r>
          </a:p>
          <a:p>
            <a:pPr>
              <a:defRPr sz="1600" b="1">
                <a:solidFill>
                  <a:srgbClr val="9B2931"/>
                </a:solidFill>
                <a:latin typeface="Arial"/>
              </a:defRPr>
            </a:pPr>
            <a:r>
              <a:t>🏆 Gamified Learning Streaks &amp; Badges</a:t>
            </a:r>
          </a:p>
          <a:p>
            <a:pPr>
              <a:spcAft>
                <a:spcPts val="1000"/>
              </a:spcAft>
              <a:defRPr sz="1350">
                <a:solidFill>
                  <a:srgbClr val="191E24"/>
                </a:solidFill>
                <a:latin typeface="Arial"/>
              </a:defRPr>
            </a:pPr>
            <a:r>
              <a:t>Introduce learning milestone badges, community leaderboards, and peer-endorsed certificates to foster long-term student engagement and accountability.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1640" y="320040"/>
            <a:ext cx="10149840" cy="868680"/>
          </a:xfrm>
          <a:prstGeom prst="rect">
            <a:avLst/>
          </a:prstGeom>
          <a:solidFill>
            <a:srgbClr val="9B2931"/>
          </a:solidFill>
          <a:ln w="19050">
            <a:solidFill>
              <a:srgbClr val="1E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Q &amp; 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www.skit.ac.in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828800"/>
            <a:ext cx="7616952" cy="39319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4400" b="1">
                <a:solidFill>
                  <a:srgbClr val="9B2931"/>
                </a:solidFill>
                <a:latin typeface="Georgia"/>
              </a:defRPr>
            </a:pPr>
            <a:r>
              <a:t>Thank You!</a:t>
            </a:r>
          </a:p>
          <a:p>
            <a:pPr algn="ctr">
              <a:spcAft>
                <a:spcPts val="2000"/>
              </a:spcAft>
              <a:defRPr sz="2400" b="1">
                <a:solidFill>
                  <a:srgbClr val="191E24"/>
                </a:solidFill>
                <a:latin typeface="Arial"/>
              </a:defRPr>
            </a:pPr>
            <a:r>
              <a:t>Any Questions or Suggestions?</a:t>
            </a:r>
          </a:p>
          <a:p>
            <a:pPr algn="ctr">
              <a:defRPr sz="1500">
                <a:solidFill>
                  <a:srgbClr val="475569"/>
                </a:solidFill>
                <a:latin typeface="Arial"/>
              </a:defRPr>
            </a:pPr>
            <a:r>
              <a:t>Project: Skill Swap (Full-Stack Peer Skill Exchange Platform)</a:t>
            </a:r>
            <a:br/>
            <a:r>
              <a:t>Candidate: Yuvraj Meena (Roll No: 24ESKCS780)</a:t>
            </a:r>
            <a:br/>
            <a:r>
              <a:t>Department of Computer Science &amp; Engineering</a:t>
            </a:r>
            <a:br/>
            <a:r>
              <a:t>Swami Keshvanand Institute of Technology, Management &amp; Gramothan, Jaipur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